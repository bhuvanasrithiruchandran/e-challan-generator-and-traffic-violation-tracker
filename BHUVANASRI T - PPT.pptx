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797675" cy="9926638"/>
  <p:embeddedFontLst>
    <p:embeddedFont>
      <p:font typeface="Bookman Old Style" panose="02050604050505020204" pitchFamily="18" charset="0"/>
      <p:regular r:id="rId19"/>
      <p:bold r:id="rId20"/>
      <p:italic r:id="rId21"/>
      <p:boldItalic r:id="rId22"/>
    </p:embeddedFont>
    <p:embeddedFont>
      <p:font typeface="Gill Sans"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E+Sf67nyaLb3QntN1TDNeYYw6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E3FC39-0264-438D-99D0-77396ADB6343}">
  <a:tblStyle styleId="{64E3FC39-0264-438D-99D0-77396ADB6343}"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b="off" i="off"/>
      <a:tcStyle>
        <a:tcBdr/>
        <a:fill>
          <a:solidFill>
            <a:srgbClr val="D4D6E0"/>
          </a:solidFill>
        </a:fill>
      </a:tcStyle>
    </a:band1H>
    <a:band2H>
      <a:tcTxStyle b="off" i="off"/>
      <a:tcStyle>
        <a:tcBdr/>
      </a:tcStyle>
    </a:band2H>
    <a:band1V>
      <a:tcTxStyle b="off" i="off"/>
      <a:tcStyle>
        <a:tcBdr/>
        <a:fill>
          <a:solidFill>
            <a:srgbClr val="D4D6E0"/>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37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15" name="Google Shape;115;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24" name="Google Shape;124;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2" name="Google Shape;132;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41" name="Google Shape;141;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49" name="Google Shape;149;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98c04c4fb_0_3:notes"/>
          <p:cNvSpPr txBox="1">
            <a:spLocks noGrp="1"/>
          </p:cNvSpPr>
          <p:nvPr>
            <p:ph type="body" idx="1"/>
          </p:nvPr>
        </p:nvSpPr>
        <p:spPr>
          <a:xfrm>
            <a:off x="679450" y="4714875"/>
            <a:ext cx="5438700" cy="4465500"/>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7" name="Google Shape;157;g3198c04c4fb_0_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198c04c4fb_0_115:notes"/>
          <p:cNvSpPr txBox="1">
            <a:spLocks noGrp="1"/>
          </p:cNvSpPr>
          <p:nvPr>
            <p:ph type="body" idx="1"/>
          </p:nvPr>
        </p:nvSpPr>
        <p:spPr>
          <a:xfrm>
            <a:off x="679450" y="4714875"/>
            <a:ext cx="5438700" cy="4465500"/>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74" name="Google Shape;174;g3198c04c4fb_0_11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82" name="Google Shape;182;p10: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90" name="Google Shape;190;p1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19a945d2a5_0_15:notes"/>
          <p:cNvSpPr txBox="1">
            <a:spLocks noGrp="1"/>
          </p:cNvSpPr>
          <p:nvPr>
            <p:ph type="body" idx="1"/>
          </p:nvPr>
        </p:nvSpPr>
        <p:spPr>
          <a:xfrm>
            <a:off x="679450" y="4714875"/>
            <a:ext cx="5438700" cy="4465500"/>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98" name="Google Shape;198;g319a945d2a5_0_1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206" name="Google Shape;206;p1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98c04c4fb_0_233:notes"/>
          <p:cNvSpPr txBox="1">
            <a:spLocks noGrp="1"/>
          </p:cNvSpPr>
          <p:nvPr>
            <p:ph type="body" idx="1"/>
          </p:nvPr>
        </p:nvSpPr>
        <p:spPr>
          <a:xfrm>
            <a:off x="679450" y="4714875"/>
            <a:ext cx="5438700" cy="4465500"/>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215" name="Google Shape;215;g3198c04c4fb_0_23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224" name="Google Shape;224;p1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232" name="Google Shape;232;p1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240" name="Google Shape;240;p1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8"/>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8"/>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24" name="Google Shape;24;p18"/>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9"/>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6" name="Google Shape;36;p20"/>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21"/>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40" name="Google Shape;40;p21"/>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21"/>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4" name="Google Shape;44;p21"/>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5" name="Google Shape;45;p21"/>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6" name="Google Shape;46;p21"/>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2"/>
              </a:buClr>
              <a:buSzPts val="3200"/>
              <a:buFont typeface="Bookman Old Style"/>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600"/>
              </a:spcBef>
              <a:spcAft>
                <a:spcPts val="0"/>
              </a:spcAft>
              <a:buSzPts val="1520"/>
              <a:buNone/>
              <a:defRPr sz="2000">
                <a:solidFill>
                  <a:schemeClr val="lt1"/>
                </a:solidFill>
              </a:defRPr>
            </a:lvl1pPr>
            <a:lvl2pPr marL="914400" lvl="1" indent="-228600" algn="l">
              <a:lnSpc>
                <a:spcPct val="100000"/>
              </a:lnSpc>
              <a:spcBef>
                <a:spcPts val="500"/>
              </a:spcBef>
              <a:spcAft>
                <a:spcPts val="0"/>
              </a:spcAft>
              <a:buSzPts val="1368"/>
              <a:buNone/>
              <a:defRPr sz="1800">
                <a:solidFill>
                  <a:schemeClr val="lt1"/>
                </a:solidFill>
              </a:defRPr>
            </a:lvl2pPr>
            <a:lvl3pPr marL="1371600" lvl="2" indent="-228600" algn="l">
              <a:lnSpc>
                <a:spcPct val="100000"/>
              </a:lnSpc>
              <a:spcBef>
                <a:spcPts val="500"/>
              </a:spcBef>
              <a:spcAft>
                <a:spcPts val="0"/>
              </a:spcAft>
              <a:buSzPts val="1216"/>
              <a:buNone/>
              <a:defRPr sz="1600">
                <a:solidFill>
                  <a:schemeClr val="lt1"/>
                </a:solidFill>
              </a:defRPr>
            </a:lvl3pPr>
            <a:lvl4pPr marL="1828800" lvl="3" indent="-228600" algn="l">
              <a:lnSpc>
                <a:spcPct val="100000"/>
              </a:lnSpc>
              <a:spcBef>
                <a:spcPts val="400"/>
              </a:spcBef>
              <a:spcAft>
                <a:spcPts val="0"/>
              </a:spcAft>
              <a:buSzPts val="980"/>
              <a:buNone/>
              <a:defRPr sz="1400">
                <a:solidFill>
                  <a:schemeClr val="lt1"/>
                </a:solidFill>
              </a:defRPr>
            </a:lvl4pPr>
            <a:lvl5pPr marL="2286000" lvl="4" indent="-228600" algn="l">
              <a:lnSpc>
                <a:spcPct val="100000"/>
              </a:lnSpc>
              <a:spcBef>
                <a:spcPts val="300"/>
              </a:spcBef>
              <a:spcAft>
                <a:spcPts val="0"/>
              </a:spcAft>
              <a:buSzPts val="980"/>
              <a:buNone/>
              <a:defRPr sz="1400">
                <a:solidFill>
                  <a:schemeClr val="lt1"/>
                </a:solidFill>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0" name="Google Shape;50;p22"/>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53" name="Google Shape;53;p22"/>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54" name="Google Shape;54;p22"/>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23"/>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3"/>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8" name="Google Shape;58;p23"/>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9" name="Google Shape;59;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23"/>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63" name="Google Shape;63;p23"/>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2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24"/>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24"/>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5"/>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lnSpc>
                <a:spcPct val="100000"/>
              </a:lnSpc>
              <a:spcBef>
                <a:spcPts val="1000"/>
              </a:spcBef>
              <a:spcAft>
                <a:spcPts val="0"/>
              </a:spcAft>
              <a:buSzPts val="912"/>
              <a:buNone/>
              <a:defRPr sz="1200"/>
            </a:lvl2pPr>
            <a:lvl3pPr marL="1371600" lvl="2" indent="-228600" algn="l">
              <a:lnSpc>
                <a:spcPct val="100000"/>
              </a:lnSpc>
              <a:spcBef>
                <a:spcPts val="500"/>
              </a:spcBef>
              <a:spcAft>
                <a:spcPts val="0"/>
              </a:spcAft>
              <a:buSzPts val="760"/>
              <a:buNone/>
              <a:defRPr sz="1000"/>
            </a:lvl3pPr>
            <a:lvl4pPr marL="1828800" lvl="3" indent="-228600" algn="l">
              <a:lnSpc>
                <a:spcPct val="100000"/>
              </a:lnSpc>
              <a:spcBef>
                <a:spcPts val="400"/>
              </a:spcBef>
              <a:spcAft>
                <a:spcPts val="0"/>
              </a:spcAft>
              <a:buSzPts val="630"/>
              <a:buNone/>
              <a:defRPr sz="900"/>
            </a:lvl4pPr>
            <a:lvl5pPr marL="2286000" lvl="4" indent="-228600" algn="l">
              <a:lnSpc>
                <a:spcPct val="100000"/>
              </a:lnSpc>
              <a:spcBef>
                <a:spcPts val="300"/>
              </a:spcBef>
              <a:spcAft>
                <a:spcPts val="0"/>
              </a:spcAft>
              <a:buSzPts val="630"/>
              <a:buNone/>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73" name="Google Shape;73;p2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5"/>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5"/>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79" name="Google Shape;79;p25"/>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6"/>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lnSpc>
                <a:spcPct val="100000"/>
              </a:lnSpc>
              <a:spcBef>
                <a:spcPts val="0"/>
              </a:spcBef>
              <a:spcAft>
                <a:spcPts val="0"/>
              </a:spcAft>
              <a:buClr>
                <a:schemeClr val="lt1"/>
              </a:buClr>
              <a:buSzPts val="2000"/>
              <a:buFont typeface="Bookman Old Style"/>
              <a:buNone/>
              <a:defRPr sz="2000" b="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6"/>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6"/>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600"/>
              </a:spcBef>
              <a:spcAft>
                <a:spcPts val="0"/>
              </a:spcAft>
              <a:buSzPts val="1064"/>
              <a:buFont typeface="Gill Sans"/>
              <a:buNone/>
              <a:defRPr sz="1400"/>
            </a:lvl1pPr>
            <a:lvl2pPr marL="914400" lvl="1" indent="-286512" algn="l">
              <a:lnSpc>
                <a:spcPct val="100000"/>
              </a:lnSpc>
              <a:spcBef>
                <a:spcPts val="500"/>
              </a:spcBef>
              <a:spcAft>
                <a:spcPts val="0"/>
              </a:spcAft>
              <a:buSzPts val="912"/>
              <a:buChar char="?"/>
              <a:defRPr sz="1200"/>
            </a:lvl2pPr>
            <a:lvl3pPr marL="1371600" lvl="2" indent="-276860" algn="l">
              <a:lnSpc>
                <a:spcPct val="100000"/>
              </a:lnSpc>
              <a:spcBef>
                <a:spcPts val="500"/>
              </a:spcBef>
              <a:spcAft>
                <a:spcPts val="0"/>
              </a:spcAft>
              <a:buSzPts val="760"/>
              <a:buChar char="?"/>
              <a:defRPr sz="1000"/>
            </a:lvl3pPr>
            <a:lvl4pPr marL="1828800" lvl="3" indent="-268605" algn="l">
              <a:lnSpc>
                <a:spcPct val="100000"/>
              </a:lnSpc>
              <a:spcBef>
                <a:spcPts val="400"/>
              </a:spcBef>
              <a:spcAft>
                <a:spcPts val="0"/>
              </a:spcAft>
              <a:buSzPts val="630"/>
              <a:buChar char="◻"/>
              <a:defRPr sz="900"/>
            </a:lvl4pPr>
            <a:lvl5pPr marL="2286000" lvl="4" indent="-268604" algn="l">
              <a:lnSpc>
                <a:spcPct val="100000"/>
              </a:lnSpc>
              <a:spcBef>
                <a:spcPts val="300"/>
              </a:spcBef>
              <a:spcAft>
                <a:spcPts val="0"/>
              </a:spcAft>
              <a:buSzPts val="630"/>
              <a:buChar char="◻"/>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84" name="Google Shape;84;p26"/>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6"/>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6"/>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9" name="Google Shape;89;p26"/>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7"/>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3" name="Google Shape;93;p2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8"/>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9" name="Google Shape;99;p2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8"/>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8"/>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cxnSp>
        <p:nvCxnSpPr>
          <p:cNvPr id="104" name="Google Shape;104;p28"/>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lnSpc>
                <a:spcPct val="100000"/>
              </a:lnSpc>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lnSpc>
                <a:spcPct val="100000"/>
              </a:lnSpc>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lnSpc>
                <a:spcPct val="100000"/>
              </a:lnSpc>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lnSpc>
                <a:spcPct val="100000"/>
              </a:lnSpc>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lnSpc>
                <a:spcPct val="100000"/>
              </a:lnSpc>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lnSpc>
                <a:spcPct val="100000"/>
              </a:lnSpc>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lnSpc>
                <a:spcPct val="100000"/>
              </a:lnSpc>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lnSpc>
                <a:spcPct val="100000"/>
              </a:lnSpc>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7"/>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7"/>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7"/>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2800"/>
              <a:buFont typeface="Times New Roman"/>
              <a:buNone/>
            </a:pPr>
            <a:r>
              <a:rPr lang="en-US" sz="2800" b="1" dirty="0">
                <a:solidFill>
                  <a:schemeClr val="dk1"/>
                </a:solidFill>
                <a:latin typeface="Times New Roman"/>
                <a:ea typeface="Times New Roman"/>
                <a:cs typeface="Times New Roman"/>
                <a:sym typeface="Times New Roman"/>
              </a:rPr>
              <a:t>CGB1201 – JAVA PROGRAMMING</a:t>
            </a:r>
            <a:br>
              <a:rPr lang="en-US" sz="2800" b="1" dirty="0">
                <a:solidFill>
                  <a:schemeClr val="dk1"/>
                </a:solidFill>
                <a:latin typeface="Times New Roman"/>
                <a:ea typeface="Times New Roman"/>
                <a:cs typeface="Times New Roman"/>
                <a:sym typeface="Times New Roman"/>
              </a:rPr>
            </a:br>
            <a:r>
              <a:rPr lang="en-US" sz="2800" b="1" dirty="0">
                <a:solidFill>
                  <a:schemeClr val="dk1"/>
                </a:solidFill>
                <a:latin typeface="Times New Roman"/>
                <a:ea typeface="Times New Roman"/>
                <a:cs typeface="Times New Roman"/>
                <a:sym typeface="Times New Roman"/>
              </a:rPr>
              <a:t>FINAL REVIEW</a:t>
            </a:r>
            <a:endParaRPr sz="2800" dirty="0"/>
          </a:p>
        </p:txBody>
      </p:sp>
      <p:sp>
        <p:nvSpPr>
          <p:cNvPr id="110" name="Google Shape;110;p1"/>
          <p:cNvSpPr txBox="1"/>
          <p:nvPr/>
        </p:nvSpPr>
        <p:spPr>
          <a:xfrm>
            <a:off x="812800" y="1047750"/>
            <a:ext cx="7772400" cy="3137674"/>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0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Department of Artificial Intelligence </a:t>
            </a:r>
            <a:r>
              <a:rPr lang="en-US" sz="22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and </a:t>
            </a:r>
            <a:r>
              <a:rPr lang="en-US" sz="2200" b="1" dirty="0">
                <a:solidFill>
                  <a:schemeClr val="dk1"/>
                </a:solidFill>
                <a:latin typeface="Times New Roman" panose="02020603050405020304" pitchFamily="18" charset="0"/>
                <a:ea typeface="Times New Roman"/>
                <a:cs typeface="Times New Roman" panose="02020603050405020304" pitchFamily="18" charset="0"/>
                <a:sym typeface="Times New Roman"/>
              </a:rPr>
              <a:t>Machine Learning</a:t>
            </a:r>
            <a:endParaRPr sz="22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Academic Year: 2024 – 2025 (Odd Semester)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2500"/>
              <a:buFont typeface="Arial"/>
              <a:buNone/>
            </a:pPr>
            <a:endParaRPr sz="25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Register Number	:  BHUVANASRI T</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Name			:  927624BAM006</a:t>
            </a:r>
          </a:p>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Year			:  II</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Semester		:  III</a:t>
            </a:r>
            <a:endParaRPr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2300"/>
              <a:buFont typeface="Arial"/>
              <a:buNone/>
            </a:pP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Date			:  </a:t>
            </a:r>
            <a:r>
              <a:rPr lang="en-US" sz="2300" b="1" dirty="0">
                <a:solidFill>
                  <a:schemeClr val="dk1"/>
                </a:solidFill>
                <a:latin typeface="Times New Roman" panose="02020603050405020304" pitchFamily="18" charset="0"/>
                <a:ea typeface="Times New Roman"/>
                <a:cs typeface="Times New Roman" panose="02020603050405020304" pitchFamily="18" charset="0"/>
                <a:sym typeface="Times New Roman"/>
              </a:rPr>
              <a:t>16</a:t>
            </a:r>
            <a:r>
              <a:rPr lang="en-US" sz="23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-12-2025</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1" name="Google Shape;111;p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a:t>
            </a:fld>
            <a:endParaRPr/>
          </a:p>
        </p:txBody>
      </p:sp>
      <p:sp>
        <p:nvSpPr>
          <p:cNvPr id="112" name="Google Shape;112;p1"/>
          <p:cNvSpPr txBox="1">
            <a:spLocks noGrp="1"/>
          </p:cNvSpPr>
          <p:nvPr>
            <p:ph type="ftr" idx="11"/>
          </p:nvPr>
        </p:nvSpPr>
        <p:spPr>
          <a:xfrm>
            <a:off x="1764200" y="4821637"/>
            <a:ext cx="5029200" cy="376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r>
              <a:rPr lang="en-US"/>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Title of the Project</a:t>
            </a:r>
            <a:endParaRPr sz="4000" b="1" dirty="0">
              <a:solidFill>
                <a:schemeClr val="dk1"/>
              </a:solidFill>
              <a:latin typeface="Times New Roman"/>
              <a:ea typeface="Times New Roman"/>
              <a:cs typeface="Times New Roman"/>
              <a:sym typeface="Times New Roman"/>
            </a:endParaRPr>
          </a:p>
        </p:txBody>
      </p:sp>
      <p:sp>
        <p:nvSpPr>
          <p:cNvPr id="118" name="Google Shape;118;p2"/>
          <p:cNvSpPr txBox="1">
            <a:spLocks noGrp="1"/>
          </p:cNvSpPr>
          <p:nvPr>
            <p:ph type="ftr" idx="11"/>
          </p:nvPr>
        </p:nvSpPr>
        <p:spPr>
          <a:xfrm>
            <a:off x="2438400" y="4767263"/>
            <a:ext cx="4340352"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r>
              <a:rPr lang="en-US" sz="10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p:txBody>
      </p:sp>
      <p:sp>
        <p:nvSpPr>
          <p:cNvPr id="119" name="Google Shape;119;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2</a:t>
            </a:fld>
            <a:endParaRPr/>
          </a:p>
        </p:txBody>
      </p:sp>
      <p:sp>
        <p:nvSpPr>
          <p:cNvPr id="120" name="Google Shape;120;p2"/>
          <p:cNvSpPr txBox="1"/>
          <p:nvPr/>
        </p:nvSpPr>
        <p:spPr>
          <a:xfrm>
            <a:off x="1595227" y="1587777"/>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a:solidFill>
                <a:srgbClr val="414141"/>
              </a:solidFill>
              <a:latin typeface="Arial"/>
              <a:ea typeface="Arial"/>
              <a:cs typeface="Arial"/>
              <a:sym typeface="Arial"/>
            </a:endParaRPr>
          </a:p>
        </p:txBody>
      </p:sp>
      <p:sp>
        <p:nvSpPr>
          <p:cNvPr id="121" name="Google Shape;121;p2"/>
          <p:cNvSpPr txBox="1"/>
          <p:nvPr/>
        </p:nvSpPr>
        <p:spPr>
          <a:xfrm>
            <a:off x="971245" y="2150466"/>
            <a:ext cx="7201500"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2400" b="1" i="0" u="none" strike="noStrike" cap="none" dirty="0">
                <a:solidFill>
                  <a:srgbClr val="3B7B8C"/>
                </a:solidFill>
                <a:latin typeface="Times New Roman"/>
                <a:ea typeface="Times New Roman"/>
                <a:cs typeface="Times New Roman"/>
                <a:sym typeface="Times New Roman"/>
              </a:rPr>
              <a:t>E-CHALLAN GENERATOR AND TRAFFIC VIOLATION TRACKER</a:t>
            </a:r>
            <a:endParaRPr sz="2400" b="0" i="0" u="none" strike="noStrike" cap="none" dirty="0">
              <a:solidFill>
                <a:srgbClr val="3B7B8C"/>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a:t>
            </a:r>
            <a:r>
              <a:rPr lang="en-US" dirty="0">
                <a:solidFill>
                  <a:schemeClr val="dk1"/>
                </a:solidFill>
                <a:latin typeface="Times New Roman"/>
                <a:ea typeface="Times New Roman"/>
                <a:cs typeface="Times New Roman"/>
                <a:sym typeface="Times New Roman"/>
              </a:rPr>
              <a:t> </a:t>
            </a:r>
            <a:endParaRPr sz="4000" dirty="0">
              <a:solidFill>
                <a:schemeClr val="dk1"/>
              </a:solidFill>
              <a:latin typeface="Times New Roman"/>
              <a:ea typeface="Times New Roman"/>
              <a:cs typeface="Times New Roman"/>
              <a:sym typeface="Times New Roman"/>
            </a:endParaRPr>
          </a:p>
        </p:txBody>
      </p:sp>
      <p:sp>
        <p:nvSpPr>
          <p:cNvPr id="127" name="Google Shape;127;p3"/>
          <p:cNvSpPr txBox="1">
            <a:spLocks noGrp="1"/>
          </p:cNvSpPr>
          <p:nvPr>
            <p:ph type="ftr" idx="11"/>
          </p:nvPr>
        </p:nvSpPr>
        <p:spPr>
          <a:xfrm>
            <a:off x="2514600" y="4767263"/>
            <a:ext cx="4191000"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 </a:t>
            </a:r>
            <a:endParaRPr/>
          </a:p>
        </p:txBody>
      </p:sp>
      <p:sp>
        <p:nvSpPr>
          <p:cNvPr id="128" name="Google Shape;128;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29" name="Google Shape;129;p3"/>
          <p:cNvSpPr txBox="1">
            <a:spLocks noGrp="1"/>
          </p:cNvSpPr>
          <p:nvPr>
            <p:ph type="body" idx="1"/>
          </p:nvPr>
        </p:nvSpPr>
        <p:spPr>
          <a:xfrm>
            <a:off x="244050" y="1510750"/>
            <a:ext cx="8347500" cy="2909400"/>
          </a:xfrm>
          <a:prstGeom prst="rect">
            <a:avLst/>
          </a:prstGeom>
          <a:noFill/>
          <a:ln>
            <a:noFill/>
          </a:ln>
        </p:spPr>
        <p:txBody>
          <a:bodyPr spcFirstLastPara="1" wrap="square" lIns="91425" tIns="45700" rIns="91425" bIns="45700" anchor="t" anchorCtr="0">
            <a:noAutofit/>
          </a:bodyPr>
          <a:lstStyle/>
          <a:p>
            <a:pPr lvl="0" indent="0" algn="just">
              <a:lnSpc>
                <a:spcPct val="150000"/>
              </a:lnSpc>
              <a:spcBef>
                <a:spcPts val="1200"/>
              </a:spcBef>
              <a:buNone/>
            </a:pPr>
            <a:r>
              <a:rPr lang="en-US" sz="1400" dirty="0">
                <a:latin typeface="Times New Roman" panose="02020603050405020304" pitchFamily="18" charset="0"/>
                <a:cs typeface="Times New Roman" panose="02020603050405020304" pitchFamily="18" charset="0"/>
              </a:rPr>
              <a:t>The E-Challan Generator and Traffic Violation Tracker is a digital system designed to automate the detection of traffic violations and generation of electronic challans. The project efficiently records violation details, tracks offender history, and reduces manual intervention. By ensuring accurate monitoring and quick challan issuance, the system improves traffic law enforcement, enhances transparency, and supports safer road management.</a:t>
            </a:r>
            <a:endParaRPr sz="14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4"/>
          <p:cNvSpPr txBox="1">
            <a:spLocks noGrp="1"/>
          </p:cNvSpPr>
          <p:nvPr>
            <p:ph type="title"/>
          </p:nvPr>
        </p:nvSpPr>
        <p:spPr>
          <a:xfrm>
            <a:off x="685800" y="171450"/>
            <a:ext cx="8001000" cy="4953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Abstract with CO/PO Mapping</a:t>
            </a:r>
            <a:endParaRPr sz="4000" b="1">
              <a:solidFill>
                <a:schemeClr val="dk1"/>
              </a:solidFill>
              <a:latin typeface="Times New Roman"/>
              <a:ea typeface="Times New Roman"/>
              <a:cs typeface="Times New Roman"/>
              <a:sym typeface="Times New Roman"/>
            </a:endParaRPr>
          </a:p>
        </p:txBody>
      </p:sp>
      <p:sp>
        <p:nvSpPr>
          <p:cNvPr id="135" name="Google Shape;135;p4"/>
          <p:cNvSpPr txBox="1">
            <a:spLocks noGrp="1"/>
          </p:cNvSpPr>
          <p:nvPr>
            <p:ph type="ftr" idx="11"/>
          </p:nvPr>
        </p:nvSpPr>
        <p:spPr>
          <a:xfrm>
            <a:off x="2819400" y="4767263"/>
            <a:ext cx="4114800"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36" name="Google Shape;136;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37" name="Google Shape;137;p4"/>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a:solidFill>
                <a:srgbClr val="414141"/>
              </a:solidFill>
              <a:latin typeface="Arial"/>
              <a:ea typeface="Arial"/>
              <a:cs typeface="Arial"/>
              <a:sym typeface="Arial"/>
            </a:endParaRPr>
          </a:p>
        </p:txBody>
      </p:sp>
      <p:graphicFrame>
        <p:nvGraphicFramePr>
          <p:cNvPr id="138" name="Google Shape;138;p4"/>
          <p:cNvGraphicFramePr/>
          <p:nvPr>
            <p:extLst>
              <p:ext uri="{D42A27DB-BD31-4B8C-83A1-F6EECF244321}">
                <p14:modId xmlns:p14="http://schemas.microsoft.com/office/powerpoint/2010/main" val="1961645341"/>
              </p:ext>
            </p:extLst>
          </p:nvPr>
        </p:nvGraphicFramePr>
        <p:xfrm>
          <a:off x="571500" y="953825"/>
          <a:ext cx="8153400" cy="3238500"/>
        </p:xfrm>
        <a:graphic>
          <a:graphicData uri="http://schemas.openxmlformats.org/drawingml/2006/table">
            <a:tbl>
              <a:tblPr firstRow="1" bandRow="1">
                <a:noFill/>
                <a:tableStyleId>{64E3FC39-0264-438D-99D0-77396ADB6343}</a:tableStyleId>
              </a:tblPr>
              <a:tblGrid>
                <a:gridCol w="5573625">
                  <a:extLst>
                    <a:ext uri="{9D8B030D-6E8A-4147-A177-3AD203B41FA5}">
                      <a16:colId xmlns:a16="http://schemas.microsoft.com/office/drawing/2014/main" val="20000"/>
                    </a:ext>
                  </a:extLst>
                </a:gridCol>
                <a:gridCol w="740175">
                  <a:extLst>
                    <a:ext uri="{9D8B030D-6E8A-4147-A177-3AD203B41FA5}">
                      <a16:colId xmlns:a16="http://schemas.microsoft.com/office/drawing/2014/main" val="20001"/>
                    </a:ext>
                  </a:extLst>
                </a:gridCol>
                <a:gridCol w="925275">
                  <a:extLst>
                    <a:ext uri="{9D8B030D-6E8A-4147-A177-3AD203B41FA5}">
                      <a16:colId xmlns:a16="http://schemas.microsoft.com/office/drawing/2014/main" val="20002"/>
                    </a:ext>
                  </a:extLst>
                </a:gridCol>
                <a:gridCol w="914325">
                  <a:extLst>
                    <a:ext uri="{9D8B030D-6E8A-4147-A177-3AD203B41FA5}">
                      <a16:colId xmlns:a16="http://schemas.microsoft.com/office/drawing/2014/main" val="20003"/>
                    </a:ext>
                  </a:extLst>
                </a:gridCol>
              </a:tblGrid>
              <a:tr h="4387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Abstract</a:t>
                      </a:r>
                      <a:endParaRPr sz="1400" u="none" strike="noStrike" cap="none"/>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CO</a:t>
                      </a:r>
                      <a:endParaRPr sz="1400" u="none" strike="noStrike" cap="none"/>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POs</a:t>
                      </a:r>
                      <a:endParaRPr sz="1400" u="none" strike="noStrike" cap="none"/>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a:ea typeface="Times New Roman"/>
                          <a:cs typeface="Times New Roman"/>
                          <a:sym typeface="Times New Roman"/>
                        </a:rPr>
                        <a:t>PSO</a:t>
                      </a:r>
                      <a:endParaRPr sz="1400" u="none" strike="noStrike" cap="none"/>
                    </a:p>
                  </a:txBody>
                  <a:tcPr marL="91450" marR="91450" marT="45725" marB="45725">
                    <a:solidFill>
                      <a:schemeClr val="lt2"/>
                    </a:solidFill>
                  </a:tcPr>
                </a:tc>
                <a:extLst>
                  <a:ext uri="{0D108BD9-81ED-4DB2-BD59-A6C34878D82A}">
                    <a16:rowId xmlns:a16="http://schemas.microsoft.com/office/drawing/2014/main" val="10000"/>
                  </a:ext>
                </a:extLst>
              </a:tr>
              <a:tr h="2799775">
                <a:tc>
                  <a:txBody>
                    <a:bodyPr/>
                    <a:lstStyle/>
                    <a:p>
                      <a:pPr marL="0" marR="0" lvl="1" indent="0" algn="just" rtl="0">
                        <a:lnSpc>
                          <a:spcPct val="150000"/>
                        </a:lnSpc>
                        <a:spcBef>
                          <a:spcPts val="0"/>
                        </a:spcBef>
                        <a:spcAft>
                          <a:spcPts val="0"/>
                        </a:spcAft>
                        <a:buClr>
                          <a:srgbClr val="000000"/>
                        </a:buClr>
                        <a:buSzPts val="1800"/>
                        <a:buFont typeface="Arial"/>
                        <a:buNone/>
                      </a:pPr>
                      <a:r>
                        <a:rPr lang="en-US" sz="1400" dirty="0">
                          <a:latin typeface="Times New Roman" panose="02020603050405020304" pitchFamily="18" charset="0"/>
                          <a:cs typeface="Times New Roman" panose="02020603050405020304" pitchFamily="18" charset="0"/>
                        </a:rPr>
                        <a:t>The project </a:t>
                      </a:r>
                      <a:r>
                        <a:rPr lang="en-US" sz="1400" i="0" dirty="0">
                          <a:latin typeface="Times New Roman" panose="02020603050405020304" pitchFamily="18" charset="0"/>
                          <a:cs typeface="Times New Roman" panose="02020603050405020304" pitchFamily="18" charset="0"/>
                        </a:rPr>
                        <a:t>E-Challan Generator and Traffic Violation Tracker</a:t>
                      </a:r>
                      <a:r>
                        <a:rPr lang="en-US" sz="1400" dirty="0">
                          <a:latin typeface="Times New Roman" panose="02020603050405020304" pitchFamily="18" charset="0"/>
                          <a:cs typeface="Times New Roman" panose="02020603050405020304" pitchFamily="18" charset="0"/>
                        </a:rPr>
                        <a:t> is designed to automate the detection of traffic violations and the generation of digital challans. Using AI and computer vision techniques such as Automatic Number Plate Recognition (ANPR), the system identifies vehicles involved in offenses like </a:t>
                      </a:r>
                      <a:r>
                        <a:rPr lang="en-US" sz="1400" dirty="0" err="1">
                          <a:latin typeface="Times New Roman" panose="02020603050405020304" pitchFamily="18" charset="0"/>
                          <a:cs typeface="Times New Roman" panose="02020603050405020304" pitchFamily="18" charset="0"/>
                        </a:rPr>
                        <a:t>overspeeding</a:t>
                      </a:r>
                      <a:r>
                        <a:rPr lang="en-US" sz="1400" dirty="0">
                          <a:latin typeface="Times New Roman" panose="02020603050405020304" pitchFamily="18" charset="0"/>
                          <a:cs typeface="Times New Roman" panose="02020603050405020304" pitchFamily="18" charset="0"/>
                        </a:rPr>
                        <a:t> and signal jumping. It then retrieves vehicle details from the RTO database, calculates fines, and issues digital challans through SMS or email. This reduces manual workload, minimizes errors, ensures transparency, and promotes safer driving habits.</a:t>
                      </a:r>
                      <a:endPar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CO1</a:t>
                      </a:r>
                      <a:endParaRPr lang="en-US"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CO2</a:t>
                      </a:r>
                      <a:endParaRPr lang="en-US"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CO3</a:t>
                      </a:r>
                      <a:endParaRPr lang="en-US" sz="14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l-PL"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PO2</a:t>
                      </a:r>
                      <a:endParaRPr lang="pl-PL"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pl-PL"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PO3</a:t>
                      </a:r>
                      <a:endParaRPr lang="pl-PL"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pl-PL"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PO5</a:t>
                      </a:r>
                      <a:endParaRPr lang="pl-PL"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pl-PL"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PO9</a:t>
                      </a:r>
                      <a:endParaRPr lang="pl-PL"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pl-PL"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PO10</a:t>
                      </a:r>
                      <a:endParaRPr lang="pl-PL" sz="14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PSO1</a:t>
                      </a:r>
                      <a:endParaRPr lang="en-US" sz="1400" u="none" strike="noStrike" cap="none"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r>
                        <a:rPr lang="en-US" sz="14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PSO2</a:t>
                      </a:r>
                      <a:endParaRPr lang="en-US" sz="14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5"/>
          <p:cNvSpPr txBox="1">
            <a:spLocks noGrp="1"/>
          </p:cNvSpPr>
          <p:nvPr>
            <p:ph type="title"/>
          </p:nvPr>
        </p:nvSpPr>
        <p:spPr>
          <a:xfrm>
            <a:off x="457200" y="156600"/>
            <a:ext cx="8229600" cy="5865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Introduction</a:t>
            </a:r>
            <a:endParaRPr sz="4000" b="1">
              <a:solidFill>
                <a:schemeClr val="dk1"/>
              </a:solidFill>
              <a:latin typeface="Times New Roman"/>
              <a:ea typeface="Times New Roman"/>
              <a:cs typeface="Times New Roman"/>
              <a:sym typeface="Times New Roman"/>
            </a:endParaRPr>
          </a:p>
        </p:txBody>
      </p:sp>
      <p:sp>
        <p:nvSpPr>
          <p:cNvPr id="144" name="Google Shape;144;p5"/>
          <p:cNvSpPr txBox="1">
            <a:spLocks noGrp="1"/>
          </p:cNvSpPr>
          <p:nvPr>
            <p:ph type="ftr" idx="11"/>
          </p:nvPr>
        </p:nvSpPr>
        <p:spPr>
          <a:xfrm>
            <a:off x="2743200" y="4767263"/>
            <a:ext cx="4114800"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45" name="Google Shape;145;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46" name="Google Shape;146;p5"/>
          <p:cNvSpPr txBox="1">
            <a:spLocks noGrp="1"/>
          </p:cNvSpPr>
          <p:nvPr>
            <p:ph type="body" idx="1"/>
          </p:nvPr>
        </p:nvSpPr>
        <p:spPr>
          <a:xfrm>
            <a:off x="612648" y="1505400"/>
            <a:ext cx="7784400" cy="2132700"/>
          </a:xfrm>
          <a:prstGeom prst="rect">
            <a:avLst/>
          </a:prstGeom>
          <a:noFill/>
          <a:ln>
            <a:noFill/>
          </a:ln>
        </p:spPr>
        <p:txBody>
          <a:bodyPr spcFirstLastPara="1" wrap="square" lIns="91425" tIns="45700" rIns="91425" bIns="45700" anchor="t" anchorCtr="0">
            <a:noAutofit/>
          </a:bodyPr>
          <a:lstStyle/>
          <a:p>
            <a:pPr marL="0" indent="0" algn="just">
              <a:lnSpc>
                <a:spcPct val="150000"/>
              </a:lnSpc>
              <a:spcBef>
                <a:spcPts val="1200"/>
              </a:spcBef>
              <a:buClr>
                <a:schemeClr val="dk1"/>
              </a:buClr>
              <a:buSzPts val="1100"/>
              <a:buNone/>
            </a:pPr>
            <a:r>
              <a:rPr lang="en-US" sz="1400" dirty="0">
                <a:latin typeface="Times New Roman" panose="02020603050405020304" pitchFamily="18" charset="0"/>
                <a:cs typeface="Times New Roman" panose="02020603050405020304" pitchFamily="18" charset="0"/>
              </a:rPr>
              <a:t>The E-Challan Generator and Traffic Violation Tracker is developed to modernize traffic law enforcement by replacing manual challan systems with an automated digital solution. The project focuses on accurately identifying traffic violations, generating e-challans instantly, and maintaining a centralized record of offenders. This system reduces paperwork, minimizes human errors, saves time, and improves efficiency for traffic authorities while ensuring better compliance with traffic rules.</a:t>
            </a:r>
            <a:endParaRPr sz="14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6"/>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Java Programming  - Concepts Used</a:t>
            </a:r>
            <a:endParaRPr sz="4000" b="1">
              <a:solidFill>
                <a:schemeClr val="dk1"/>
              </a:solidFill>
              <a:latin typeface="Times New Roman"/>
              <a:ea typeface="Times New Roman"/>
              <a:cs typeface="Times New Roman"/>
              <a:sym typeface="Times New Roman"/>
            </a:endParaRPr>
          </a:p>
        </p:txBody>
      </p:sp>
      <p:sp>
        <p:nvSpPr>
          <p:cNvPr id="152" name="Google Shape;152;p6"/>
          <p:cNvSpPr txBox="1">
            <a:spLocks noGrp="1"/>
          </p:cNvSpPr>
          <p:nvPr>
            <p:ph type="ftr" idx="11"/>
          </p:nvPr>
        </p:nvSpPr>
        <p:spPr>
          <a:xfrm>
            <a:off x="2514600" y="4767263"/>
            <a:ext cx="4035552"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53" name="Google Shape;153;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3" name="Text Placeholder 2">
            <a:extLst>
              <a:ext uri="{FF2B5EF4-FFF2-40B4-BE49-F238E27FC236}">
                <a16:creationId xmlns:a16="http://schemas.microsoft.com/office/drawing/2014/main" id="{D2B11E4C-3867-9E8D-87E2-851EBB70B8B5}"/>
              </a:ext>
            </a:extLst>
          </p:cNvPr>
          <p:cNvSpPr>
            <a:spLocks noGrp="1" noChangeArrowheads="1"/>
          </p:cNvSpPr>
          <p:nvPr>
            <p:ph type="body" idx="1"/>
          </p:nvPr>
        </p:nvSpPr>
        <p:spPr bwMode="auto">
          <a:xfrm>
            <a:off x="457200" y="1501139"/>
            <a:ext cx="82296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Swing Framework</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GUI creation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 Handling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button actions and form submissions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Object-Oriented Programming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Using classes for driver, vehicle, and violation details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Exception Handling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To handle invalid inputs and missing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Handling / Collections </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store challan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Layouts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organizing UI components effectively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198c04c4fb_0_3"/>
          <p:cNvSpPr txBox="1">
            <a:spLocks noGrp="1"/>
          </p:cNvSpPr>
          <p:nvPr>
            <p:ph type="title"/>
          </p:nvPr>
        </p:nvSpPr>
        <p:spPr>
          <a:xfrm>
            <a:off x="381000" y="0"/>
            <a:ext cx="8229600" cy="7431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a:t>
            </a:r>
            <a:endParaRPr sz="4000" b="1">
              <a:solidFill>
                <a:schemeClr val="dk1"/>
              </a:solidFill>
              <a:latin typeface="Times New Roman"/>
              <a:ea typeface="Times New Roman"/>
              <a:cs typeface="Times New Roman"/>
              <a:sym typeface="Times New Roman"/>
            </a:endParaRPr>
          </a:p>
        </p:txBody>
      </p:sp>
      <p:sp>
        <p:nvSpPr>
          <p:cNvPr id="160" name="Google Shape;160;g3198c04c4fb_0_3"/>
          <p:cNvSpPr txBox="1">
            <a:spLocks noGrp="1"/>
          </p:cNvSpPr>
          <p:nvPr>
            <p:ph type="ftr" idx="11"/>
          </p:nvPr>
        </p:nvSpPr>
        <p:spPr>
          <a:xfrm>
            <a:off x="2667000" y="4781550"/>
            <a:ext cx="4035600" cy="2286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61" name="Google Shape;161;g3198c04c4fb_0_3"/>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
        <p:nvSpPr>
          <p:cNvPr id="162" name="Google Shape;162;g3198c04c4fb_0_3"/>
          <p:cNvSpPr/>
          <p:nvPr/>
        </p:nvSpPr>
        <p:spPr>
          <a:xfrm>
            <a:off x="1158000" y="1254625"/>
            <a:ext cx="1509000" cy="74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rPr>
              <a:t>USER INTERACTION LAYER </a:t>
            </a:r>
            <a:endParaRPr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endParaRPr>
          </a:p>
        </p:txBody>
      </p:sp>
      <p:sp>
        <p:nvSpPr>
          <p:cNvPr id="163" name="Google Shape;163;g3198c04c4fb_0_3"/>
          <p:cNvSpPr/>
          <p:nvPr/>
        </p:nvSpPr>
        <p:spPr>
          <a:xfrm>
            <a:off x="2340175" y="3018075"/>
            <a:ext cx="1509000" cy="74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rPr>
              <a:t>FUTURE SCOPE</a:t>
            </a:r>
            <a:endParaRPr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endParaRPr>
          </a:p>
        </p:txBody>
      </p:sp>
      <p:sp>
        <p:nvSpPr>
          <p:cNvPr id="164" name="Google Shape;164;g3198c04c4fb_0_3"/>
          <p:cNvSpPr/>
          <p:nvPr/>
        </p:nvSpPr>
        <p:spPr>
          <a:xfrm>
            <a:off x="4949975" y="3018075"/>
            <a:ext cx="1509000" cy="74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rPr>
              <a:t>SECURITY LAYER</a:t>
            </a:r>
            <a:endParaRPr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endParaRPr>
          </a:p>
        </p:txBody>
      </p:sp>
      <p:sp>
        <p:nvSpPr>
          <p:cNvPr id="165" name="Google Shape;165;g3198c04c4fb_0_3"/>
          <p:cNvSpPr/>
          <p:nvPr/>
        </p:nvSpPr>
        <p:spPr>
          <a:xfrm>
            <a:off x="6091750" y="1240350"/>
            <a:ext cx="1509000" cy="74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en-US" sz="1400" b="0" i="0"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DATA  </a:t>
            </a:r>
            <a:r>
              <a:rPr lang="en-US"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rPr>
              <a:t>LAYER</a:t>
            </a:r>
            <a:endParaRPr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endParaRPr>
          </a:p>
        </p:txBody>
      </p:sp>
      <p:sp>
        <p:nvSpPr>
          <p:cNvPr id="166" name="Google Shape;166;g3198c04c4fb_0_3"/>
          <p:cNvSpPr/>
          <p:nvPr/>
        </p:nvSpPr>
        <p:spPr>
          <a:xfrm>
            <a:off x="3624875" y="1240350"/>
            <a:ext cx="1509000" cy="74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rPr>
              <a:t>BUSINESS LOGIC LAYER</a:t>
            </a:r>
            <a:endParaRPr sz="1400" b="0" i="0" u="none" strike="noStrike" cap="none" dirty="0">
              <a:solidFill>
                <a:srgbClr val="000000"/>
              </a:solidFill>
              <a:latin typeface="Times New Roman" panose="02020603050405020304" pitchFamily="18" charset="0"/>
              <a:ea typeface="Gill Sans"/>
              <a:cs typeface="Times New Roman" panose="02020603050405020304" pitchFamily="18" charset="0"/>
              <a:sym typeface="Gill Sans"/>
            </a:endParaRPr>
          </a:p>
        </p:txBody>
      </p:sp>
      <p:cxnSp>
        <p:nvCxnSpPr>
          <p:cNvPr id="167" name="Google Shape;167;g3198c04c4fb_0_3"/>
          <p:cNvCxnSpPr>
            <a:stCxn id="162" idx="3"/>
            <a:endCxn id="166" idx="1"/>
          </p:cNvCxnSpPr>
          <p:nvPr/>
        </p:nvCxnSpPr>
        <p:spPr>
          <a:xfrm rot="10800000" flipH="1">
            <a:off x="2667000" y="1611775"/>
            <a:ext cx="957900" cy="14400"/>
          </a:xfrm>
          <a:prstGeom prst="straightConnector1">
            <a:avLst/>
          </a:prstGeom>
          <a:noFill/>
          <a:ln w="9525" cap="flat" cmpd="sng">
            <a:solidFill>
              <a:schemeClr val="dk2"/>
            </a:solidFill>
            <a:prstDash val="solid"/>
            <a:round/>
            <a:headEnd type="none" w="sm" len="sm"/>
            <a:tailEnd type="triangle" w="med" len="med"/>
          </a:ln>
        </p:spPr>
      </p:cxnSp>
      <p:cxnSp>
        <p:nvCxnSpPr>
          <p:cNvPr id="168" name="Google Shape;168;g3198c04c4fb_0_3"/>
          <p:cNvCxnSpPr>
            <a:stCxn id="166" idx="3"/>
            <a:endCxn id="165" idx="1"/>
          </p:cNvCxnSpPr>
          <p:nvPr/>
        </p:nvCxnSpPr>
        <p:spPr>
          <a:xfrm>
            <a:off x="5133875" y="1611900"/>
            <a:ext cx="957900" cy="0"/>
          </a:xfrm>
          <a:prstGeom prst="straightConnector1">
            <a:avLst/>
          </a:prstGeom>
          <a:noFill/>
          <a:ln w="9525" cap="flat" cmpd="sng">
            <a:solidFill>
              <a:schemeClr val="dk2"/>
            </a:solidFill>
            <a:prstDash val="solid"/>
            <a:round/>
            <a:headEnd type="none" w="sm" len="sm"/>
            <a:tailEnd type="triangle" w="med" len="med"/>
          </a:ln>
        </p:spPr>
      </p:cxnSp>
      <p:cxnSp>
        <p:nvCxnSpPr>
          <p:cNvPr id="169" name="Google Shape;169;g3198c04c4fb_0_3"/>
          <p:cNvCxnSpPr>
            <a:stCxn id="164" idx="1"/>
            <a:endCxn id="163" idx="3"/>
          </p:cNvCxnSpPr>
          <p:nvPr/>
        </p:nvCxnSpPr>
        <p:spPr>
          <a:xfrm rot="10800000">
            <a:off x="3849275" y="3389625"/>
            <a:ext cx="1100700" cy="0"/>
          </a:xfrm>
          <a:prstGeom prst="straightConnector1">
            <a:avLst/>
          </a:prstGeom>
          <a:noFill/>
          <a:ln w="9525" cap="flat" cmpd="sng">
            <a:solidFill>
              <a:schemeClr val="dk2"/>
            </a:solidFill>
            <a:prstDash val="solid"/>
            <a:round/>
            <a:headEnd type="none" w="sm" len="sm"/>
            <a:tailEnd type="triangle" w="med" len="med"/>
          </a:ln>
        </p:spPr>
      </p:cxnSp>
      <p:cxnSp>
        <p:nvCxnSpPr>
          <p:cNvPr id="170" name="Google Shape;170;g3198c04c4fb_0_3"/>
          <p:cNvCxnSpPr>
            <a:stCxn id="165" idx="3"/>
            <a:endCxn id="164" idx="3"/>
          </p:cNvCxnSpPr>
          <p:nvPr/>
        </p:nvCxnSpPr>
        <p:spPr>
          <a:xfrm flipH="1">
            <a:off x="6458950" y="1611900"/>
            <a:ext cx="1141800" cy="1777800"/>
          </a:xfrm>
          <a:prstGeom prst="bentConnector3">
            <a:avLst>
              <a:gd name="adj1" fmla="val -20855"/>
            </a:avLst>
          </a:prstGeom>
          <a:noFill/>
          <a:ln w="9525" cap="flat" cmpd="sng">
            <a:solidFill>
              <a:schemeClr val="dk2"/>
            </a:solidFill>
            <a:prstDash val="solid"/>
            <a:round/>
            <a:headEnd type="none" w="sm" len="sm"/>
            <a:tailEnd type="none" w="sm" len="sm"/>
          </a:ln>
        </p:spPr>
      </p:cxnSp>
      <p:cxnSp>
        <p:nvCxnSpPr>
          <p:cNvPr id="171" name="Google Shape;171;g3198c04c4fb_0_3"/>
          <p:cNvCxnSpPr/>
          <p:nvPr/>
        </p:nvCxnSpPr>
        <p:spPr>
          <a:xfrm rot="10800000">
            <a:off x="6458975" y="3389625"/>
            <a:ext cx="524400" cy="75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198c04c4fb_0_115"/>
          <p:cNvSpPr txBox="1">
            <a:spLocks noGrp="1"/>
          </p:cNvSpPr>
          <p:nvPr>
            <p:ph type="title"/>
          </p:nvPr>
        </p:nvSpPr>
        <p:spPr>
          <a:xfrm>
            <a:off x="457200" y="114300"/>
            <a:ext cx="8229600" cy="7431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 - Description</a:t>
            </a:r>
            <a:endParaRPr sz="4000" b="1">
              <a:solidFill>
                <a:schemeClr val="dk1"/>
              </a:solidFill>
              <a:latin typeface="Times New Roman"/>
              <a:ea typeface="Times New Roman"/>
              <a:cs typeface="Times New Roman"/>
              <a:sym typeface="Times New Roman"/>
            </a:endParaRPr>
          </a:p>
        </p:txBody>
      </p:sp>
      <p:sp>
        <p:nvSpPr>
          <p:cNvPr id="177" name="Google Shape;177;g3198c04c4fb_0_115"/>
          <p:cNvSpPr txBox="1">
            <a:spLocks noGrp="1"/>
          </p:cNvSpPr>
          <p:nvPr>
            <p:ph type="ftr" idx="11"/>
          </p:nvPr>
        </p:nvSpPr>
        <p:spPr>
          <a:xfrm>
            <a:off x="2743200" y="4767263"/>
            <a:ext cx="4191000" cy="376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78" name="Google Shape;178;g3198c04c4fb_0_115"/>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
        <p:nvSpPr>
          <p:cNvPr id="179" name="Google Shape;179;g3198c04c4fb_0_115"/>
          <p:cNvSpPr txBox="1">
            <a:spLocks noGrp="1"/>
          </p:cNvSpPr>
          <p:nvPr>
            <p:ph type="body" idx="1"/>
          </p:nvPr>
        </p:nvSpPr>
        <p:spPr>
          <a:xfrm>
            <a:off x="370114" y="1045931"/>
            <a:ext cx="8229600" cy="3532800"/>
          </a:xfrm>
          <a:prstGeom prst="rect">
            <a:avLst/>
          </a:prstGeom>
          <a:noFill/>
          <a:ln>
            <a:noFill/>
          </a:ln>
        </p:spPr>
        <p:txBody>
          <a:bodyPr spcFirstLastPara="1" wrap="square" lIns="91425" tIns="45700" rIns="91425" bIns="45700" anchor="t" anchorCtr="0">
            <a:noAutofit/>
          </a:bodyPr>
          <a:lstStyle/>
          <a:p>
            <a:pPr lvl="0" indent="-323850" algn="just">
              <a:lnSpc>
                <a:spcPct val="150000"/>
              </a:lnSpc>
              <a:spcBef>
                <a:spcPts val="0"/>
              </a:spcBef>
              <a:buSzPts val="1500"/>
              <a:buFont typeface="Times New Roman"/>
              <a:buAutoNum type="arabicPeriod"/>
            </a:pPr>
            <a:r>
              <a:rPr lang="en-US" sz="1500" b="1" dirty="0">
                <a:latin typeface="Times New Roman" panose="02020603050405020304" pitchFamily="18" charset="0"/>
                <a:ea typeface="Times New Roman"/>
                <a:cs typeface="Times New Roman" panose="02020603050405020304" pitchFamily="18" charset="0"/>
                <a:sym typeface="Times New Roman"/>
              </a:rPr>
              <a:t>User Interface Layer</a:t>
            </a:r>
            <a:r>
              <a:rPr lang="en-US" sz="1500" dirty="0">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Java Swing GUI for officers to input violation details and view challans</a:t>
            </a:r>
          </a:p>
          <a:p>
            <a:pPr lvl="0" indent="-323850" algn="just">
              <a:lnSpc>
                <a:spcPct val="150000"/>
              </a:lnSpc>
              <a:spcBef>
                <a:spcPts val="0"/>
              </a:spcBef>
              <a:buSzPts val="1500"/>
              <a:buFont typeface="Times New Roman"/>
              <a:buAutoNum type="arabicPeriod"/>
            </a:pPr>
            <a:r>
              <a:rPr lang="en-US" sz="1500" b="1" dirty="0">
                <a:latin typeface="Times New Roman" panose="02020603050405020304" pitchFamily="18" charset="0"/>
                <a:ea typeface="Times New Roman"/>
                <a:cs typeface="Times New Roman" panose="02020603050405020304" pitchFamily="18" charset="0"/>
                <a:sym typeface="Times New Roman"/>
              </a:rPr>
              <a:t>Business Logic Layer</a:t>
            </a:r>
            <a:r>
              <a:rPr lang="en-US" sz="1500" dirty="0">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Handles calculation of fine amounts, generation of challan IDs, and updating payment status</a:t>
            </a:r>
          </a:p>
          <a:p>
            <a:pPr lvl="0" indent="-323850" algn="just">
              <a:lnSpc>
                <a:spcPct val="150000"/>
              </a:lnSpc>
              <a:spcBef>
                <a:spcPts val="0"/>
              </a:spcBef>
              <a:buSzPts val="1500"/>
              <a:buFont typeface="Times New Roman"/>
              <a:buAutoNum type="arabicPeriod"/>
            </a:pPr>
            <a:r>
              <a:rPr lang="en-US" sz="1500" b="1" dirty="0">
                <a:latin typeface="Times New Roman" panose="02020603050405020304" pitchFamily="18" charset="0"/>
                <a:ea typeface="Times New Roman"/>
                <a:cs typeface="Times New Roman" panose="02020603050405020304" pitchFamily="18" charset="0"/>
                <a:sym typeface="Times New Roman"/>
              </a:rPr>
              <a:t>Data Layer</a:t>
            </a:r>
            <a:r>
              <a:rPr lang="en-US" sz="1500" dirty="0">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Stores driver, vehicle, and challan details using files or collections. Can later be connected to MySQL or Firebase database</a:t>
            </a:r>
            <a:r>
              <a:rPr lang="en-US" sz="1500" dirty="0">
                <a:latin typeface="Times New Roman" panose="02020603050405020304" pitchFamily="18" charset="0"/>
                <a:ea typeface="Times New Roman"/>
                <a:cs typeface="Times New Roman" panose="02020603050405020304" pitchFamily="18" charset="0"/>
                <a:sym typeface="Times New Roman"/>
              </a:rPr>
              <a:t>.</a:t>
            </a:r>
            <a:endParaRPr sz="1500" dirty="0">
              <a:latin typeface="Times New Roman" panose="02020603050405020304" pitchFamily="18" charset="0"/>
              <a:ea typeface="Times New Roman"/>
              <a:cs typeface="Times New Roman" panose="02020603050405020304" pitchFamily="18" charset="0"/>
              <a:sym typeface="Times New Roman"/>
            </a:endParaRPr>
          </a:p>
          <a:p>
            <a:pPr lvl="0" indent="-323850" algn="just">
              <a:lnSpc>
                <a:spcPct val="150000"/>
              </a:lnSpc>
              <a:spcBef>
                <a:spcPts val="0"/>
              </a:spcBef>
              <a:buSzPts val="1500"/>
              <a:buFont typeface="Times New Roman"/>
              <a:buAutoNum type="arabicPeriod"/>
            </a:pPr>
            <a:r>
              <a:rPr lang="en-US" sz="1500" b="1" dirty="0">
                <a:latin typeface="Times New Roman" panose="02020603050405020304" pitchFamily="18" charset="0"/>
                <a:ea typeface="Times New Roman"/>
                <a:cs typeface="Times New Roman" panose="02020603050405020304" pitchFamily="18" charset="0"/>
                <a:sym typeface="Times New Roman"/>
              </a:rPr>
              <a:t>Security Layer</a:t>
            </a:r>
            <a:r>
              <a:rPr lang="en-US" sz="1500" dirty="0">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Officer login system ensures only authorized users can issue challans</a:t>
            </a:r>
          </a:p>
          <a:p>
            <a:pPr lvl="0" indent="-323850" algn="just">
              <a:lnSpc>
                <a:spcPct val="150000"/>
              </a:lnSpc>
              <a:spcBef>
                <a:spcPts val="0"/>
              </a:spcBef>
              <a:buSzPts val="1500"/>
              <a:buFont typeface="Times New Roman"/>
              <a:buAutoNum type="arabicPeriod"/>
            </a:pPr>
            <a:r>
              <a:rPr lang="en-US" sz="1500" b="1" dirty="0">
                <a:latin typeface="Times New Roman" panose="02020603050405020304" pitchFamily="18" charset="0"/>
                <a:ea typeface="Times New Roman"/>
                <a:cs typeface="Times New Roman" panose="02020603050405020304" pitchFamily="18" charset="0"/>
                <a:sym typeface="Times New Roman"/>
              </a:rPr>
              <a:t>Future Scope</a:t>
            </a:r>
            <a:r>
              <a:rPr lang="en-US" sz="1500" dirty="0">
                <a:latin typeface="Times New Roman" panose="02020603050405020304" pitchFamily="18" charset="0"/>
                <a:ea typeface="Times New Roman"/>
                <a:cs typeface="Times New Roman" panose="02020603050405020304" pitchFamily="18" charset="0"/>
                <a:sym typeface="Times New Roman"/>
              </a:rPr>
              <a:t>: </a:t>
            </a:r>
            <a:r>
              <a:rPr lang="en-US" sz="1600" dirty="0">
                <a:latin typeface="Times New Roman" panose="02020603050405020304" pitchFamily="18" charset="0"/>
                <a:cs typeface="Times New Roman" panose="02020603050405020304" pitchFamily="18" charset="0"/>
              </a:rPr>
              <a:t>Integration with camera-based detection. Online payment portal. SMS/Email challan notification system</a:t>
            </a:r>
            <a:endParaRPr sz="15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0"/>
          <p:cNvSpPr txBox="1">
            <a:spLocks noGrp="1"/>
          </p:cNvSpPr>
          <p:nvPr>
            <p:ph type="title"/>
          </p:nvPr>
        </p:nvSpPr>
        <p:spPr>
          <a:xfrm>
            <a:off x="457200" y="13335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List of Modules</a:t>
            </a:r>
            <a:endParaRPr/>
          </a:p>
        </p:txBody>
      </p:sp>
      <p:sp>
        <p:nvSpPr>
          <p:cNvPr id="185" name="Google Shape;185;p10"/>
          <p:cNvSpPr txBox="1">
            <a:spLocks noGrp="1"/>
          </p:cNvSpPr>
          <p:nvPr>
            <p:ph type="ftr" idx="11"/>
          </p:nvPr>
        </p:nvSpPr>
        <p:spPr>
          <a:xfrm>
            <a:off x="3124200" y="4767263"/>
            <a:ext cx="4038600"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86" name="Google Shape;186;p1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87" name="Google Shape;187;p10"/>
          <p:cNvSpPr txBox="1">
            <a:spLocks noGrp="1"/>
          </p:cNvSpPr>
          <p:nvPr>
            <p:ph type="body" idx="1"/>
          </p:nvPr>
        </p:nvSpPr>
        <p:spPr>
          <a:xfrm>
            <a:off x="6031992" y="1130030"/>
            <a:ext cx="3810000" cy="2819400"/>
          </a:xfrm>
          <a:prstGeom prst="rect">
            <a:avLst/>
          </a:prstGeom>
          <a:noFill/>
          <a:ln>
            <a:noFill/>
          </a:ln>
        </p:spPr>
        <p:txBody>
          <a:bodyPr spcFirstLastPara="1" wrap="square" lIns="91425" tIns="45700" rIns="91425" bIns="45700" anchor="t" anchorCtr="0">
            <a:noAutofit/>
          </a:bodyPr>
          <a:lstStyle/>
          <a:p>
            <a:pPr marL="274320" lvl="0" indent="-187452" algn="just" rtl="0">
              <a:lnSpc>
                <a:spcPct val="90000"/>
              </a:lnSpc>
              <a:spcBef>
                <a:spcPts val="0"/>
              </a:spcBef>
              <a:spcAft>
                <a:spcPts val="0"/>
              </a:spcAft>
              <a:buSzPts val="1368"/>
              <a:buFont typeface="Noto Sans Symbols"/>
              <a:buNone/>
            </a:pPr>
            <a:endParaRPr sz="1800" dirty="0">
              <a:latin typeface="Times New Roman"/>
              <a:ea typeface="Times New Roman"/>
              <a:cs typeface="Times New Roman"/>
              <a:sym typeface="Times New Roman"/>
            </a:endParaRPr>
          </a:p>
          <a:p>
            <a:pPr marL="0" lvl="0" indent="0" algn="just" rtl="0">
              <a:lnSpc>
                <a:spcPct val="90000"/>
              </a:lnSpc>
              <a:spcBef>
                <a:spcPts val="600"/>
              </a:spcBef>
              <a:spcAft>
                <a:spcPts val="0"/>
              </a:spcAft>
              <a:buSzPts val="1368"/>
              <a:buNone/>
            </a:pPr>
            <a:endParaRPr sz="1800" dirty="0">
              <a:latin typeface="Times New Roman"/>
              <a:ea typeface="Times New Roman"/>
              <a:cs typeface="Times New Roman"/>
              <a:sym typeface="Times New Roman"/>
            </a:endParaRPr>
          </a:p>
          <a:p>
            <a:pPr marL="274320" lvl="0" indent="-148844" algn="l" rtl="0">
              <a:lnSpc>
                <a:spcPct val="90000"/>
              </a:lnSpc>
              <a:spcBef>
                <a:spcPts val="600"/>
              </a:spcBef>
              <a:spcAft>
                <a:spcPts val="0"/>
              </a:spcAft>
              <a:buSzPts val="1976"/>
              <a:buNone/>
            </a:pPr>
            <a:endParaRPr sz="1800" dirty="0">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1DD4E9AB-4E61-AC3F-E71D-33E41D2317AF}"/>
              </a:ext>
            </a:extLst>
          </p:cNvPr>
          <p:cNvSpPr>
            <a:spLocks noChangeArrowheads="1"/>
          </p:cNvSpPr>
          <p:nvPr/>
        </p:nvSpPr>
        <p:spPr bwMode="auto">
          <a:xfrm rot="10800000" flipV="1">
            <a:off x="659239" y="1340643"/>
            <a:ext cx="79827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and Authentication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Vehicle and Driver Record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Violation Entry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E-Challan Generation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Payment and Record Management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Admin Dashboard Module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1"/>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Module Description</a:t>
            </a:r>
            <a:endParaRPr b="1">
              <a:solidFill>
                <a:schemeClr val="dk1"/>
              </a:solidFill>
              <a:latin typeface="Times New Roman"/>
              <a:ea typeface="Times New Roman"/>
              <a:cs typeface="Times New Roman"/>
              <a:sym typeface="Times New Roman"/>
            </a:endParaRPr>
          </a:p>
        </p:txBody>
      </p:sp>
      <p:sp>
        <p:nvSpPr>
          <p:cNvPr id="193" name="Google Shape;193;p11"/>
          <p:cNvSpPr txBox="1">
            <a:spLocks noGrp="1"/>
          </p:cNvSpPr>
          <p:nvPr>
            <p:ph type="ftr" idx="11"/>
          </p:nvPr>
        </p:nvSpPr>
        <p:spPr>
          <a:xfrm>
            <a:off x="2438400" y="4791153"/>
            <a:ext cx="4495800" cy="23804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194" name="Google Shape;194;p1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95" name="Google Shape;195;p11"/>
          <p:cNvSpPr txBox="1"/>
          <p:nvPr/>
        </p:nvSpPr>
        <p:spPr>
          <a:xfrm>
            <a:off x="457200" y="1493001"/>
            <a:ext cx="8140775" cy="2369849"/>
          </a:xfrm>
          <a:prstGeom prst="rect">
            <a:avLst/>
          </a:prstGeom>
          <a:noFill/>
          <a:ln>
            <a:noFill/>
          </a:ln>
        </p:spPr>
        <p:txBody>
          <a:bodyPr spcFirstLastPara="1" wrap="square" lIns="91425" tIns="91425" rIns="91425" bIns="91425" anchor="t" anchorCtr="0">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Login and Authentication Module</a:t>
            </a:r>
          </a:p>
          <a:p>
            <a:r>
              <a:rPr lang="en-IN" sz="1600" dirty="0">
                <a:latin typeface="Times New Roman" panose="02020603050405020304" pitchFamily="18" charset="0"/>
                <a:cs typeface="Times New Roman" panose="02020603050405020304" pitchFamily="18" charset="0"/>
              </a:rPr>
              <a:t>Allows authorized officers to log in securely using username and password.</a:t>
            </a:r>
            <a:br>
              <a:rPr lang="en-IN" sz="16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Vehicle and Driver Record Module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Stores and retrieves driver and vehicle details for quick access.</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 Violation Entry Module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Enables officers to select violation type, calculate fine amount, and submit challan.</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19a945d2a5_0_15"/>
          <p:cNvSpPr txBox="1">
            <a:spLocks noGrp="1"/>
          </p:cNvSpPr>
          <p:nvPr>
            <p:ph type="title"/>
          </p:nvPr>
        </p:nvSpPr>
        <p:spPr>
          <a:xfrm>
            <a:off x="457200" y="114300"/>
            <a:ext cx="8229600" cy="7431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Module Description</a:t>
            </a:r>
            <a:endParaRPr b="1">
              <a:solidFill>
                <a:schemeClr val="dk1"/>
              </a:solidFill>
              <a:latin typeface="Times New Roman"/>
              <a:ea typeface="Times New Roman"/>
              <a:cs typeface="Times New Roman"/>
              <a:sym typeface="Times New Roman"/>
            </a:endParaRPr>
          </a:p>
        </p:txBody>
      </p:sp>
      <p:sp>
        <p:nvSpPr>
          <p:cNvPr id="201" name="Google Shape;201;g319a945d2a5_0_15"/>
          <p:cNvSpPr txBox="1">
            <a:spLocks noGrp="1"/>
          </p:cNvSpPr>
          <p:nvPr>
            <p:ph type="ftr" idx="11"/>
          </p:nvPr>
        </p:nvSpPr>
        <p:spPr>
          <a:xfrm>
            <a:off x="2438400" y="4791153"/>
            <a:ext cx="4495800" cy="2379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US" sz="1200">
                <a:latin typeface="Times New Roman"/>
                <a:ea typeface="Times New Roman"/>
                <a:cs typeface="Times New Roman"/>
                <a:sym typeface="Times New Roman"/>
              </a:rPr>
              <a:t>CGB1201 – JAVA PROGRAMMING –FINAL REVIEW</a:t>
            </a:r>
            <a:endParaRPr/>
          </a:p>
        </p:txBody>
      </p:sp>
      <p:sp>
        <p:nvSpPr>
          <p:cNvPr id="202" name="Google Shape;202;g319a945d2a5_0_15"/>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2" name="TextBox 1">
            <a:extLst>
              <a:ext uri="{FF2B5EF4-FFF2-40B4-BE49-F238E27FC236}">
                <a16:creationId xmlns:a16="http://schemas.microsoft.com/office/drawing/2014/main" id="{317865CB-F715-58B1-DBE0-DB241B824987}"/>
              </a:ext>
            </a:extLst>
          </p:cNvPr>
          <p:cNvSpPr txBox="1"/>
          <p:nvPr/>
        </p:nvSpPr>
        <p:spPr>
          <a:xfrm>
            <a:off x="612648" y="1448365"/>
            <a:ext cx="7677150" cy="2246769"/>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E-Challan Generation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Automatically generates a digital challan with unique ID and stores it in the record.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Payment and Record Management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officers to update payment status and view pending challans.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 Admin Dashboard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Displays summary statistics like total challans issued, collected fines, and violations.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Results and Discussion</a:t>
            </a:r>
            <a:endParaRPr b="1">
              <a:solidFill>
                <a:schemeClr val="dk1"/>
              </a:solidFill>
              <a:latin typeface="Times New Roman"/>
              <a:ea typeface="Times New Roman"/>
              <a:cs typeface="Times New Roman"/>
              <a:sym typeface="Times New Roman"/>
            </a:endParaRPr>
          </a:p>
        </p:txBody>
      </p:sp>
      <p:sp>
        <p:nvSpPr>
          <p:cNvPr id="209" name="Google Shape;209;p13"/>
          <p:cNvSpPr txBox="1">
            <a:spLocks noGrp="1"/>
          </p:cNvSpPr>
          <p:nvPr>
            <p:ph type="ftr" idx="11"/>
          </p:nvPr>
        </p:nvSpPr>
        <p:spPr>
          <a:xfrm>
            <a:off x="2595372" y="4767263"/>
            <a:ext cx="4568952"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endParaRPr/>
          </a:p>
        </p:txBody>
      </p:sp>
      <p:sp>
        <p:nvSpPr>
          <p:cNvPr id="210" name="Google Shape;210;p1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pic>
        <p:nvPicPr>
          <p:cNvPr id="3" name="Picture 2">
            <a:extLst>
              <a:ext uri="{FF2B5EF4-FFF2-40B4-BE49-F238E27FC236}">
                <a16:creationId xmlns:a16="http://schemas.microsoft.com/office/drawing/2014/main" id="{52224290-4E09-7AEF-AE1C-382D1A80BC4B}"/>
              </a:ext>
            </a:extLst>
          </p:cNvPr>
          <p:cNvPicPr>
            <a:picLocks noChangeAspect="1"/>
          </p:cNvPicPr>
          <p:nvPr/>
        </p:nvPicPr>
        <p:blipFill>
          <a:blip r:embed="rId3"/>
          <a:stretch>
            <a:fillRect/>
          </a:stretch>
        </p:blipFill>
        <p:spPr>
          <a:xfrm>
            <a:off x="340253" y="1402735"/>
            <a:ext cx="3918238" cy="2459871"/>
          </a:xfrm>
          <a:prstGeom prst="rect">
            <a:avLst/>
          </a:prstGeom>
        </p:spPr>
      </p:pic>
      <p:pic>
        <p:nvPicPr>
          <p:cNvPr id="5" name="Picture 4">
            <a:extLst>
              <a:ext uri="{FF2B5EF4-FFF2-40B4-BE49-F238E27FC236}">
                <a16:creationId xmlns:a16="http://schemas.microsoft.com/office/drawing/2014/main" id="{147794DF-3963-2B44-7D28-2CC20676A98D}"/>
              </a:ext>
            </a:extLst>
          </p:cNvPr>
          <p:cNvPicPr>
            <a:picLocks noChangeAspect="1"/>
          </p:cNvPicPr>
          <p:nvPr/>
        </p:nvPicPr>
        <p:blipFill>
          <a:blip r:embed="rId4"/>
          <a:stretch>
            <a:fillRect/>
          </a:stretch>
        </p:blipFill>
        <p:spPr>
          <a:xfrm>
            <a:off x="4347029" y="1402735"/>
            <a:ext cx="4339771" cy="245987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98c04c4fb_0_233"/>
          <p:cNvSpPr txBox="1">
            <a:spLocks noGrp="1"/>
          </p:cNvSpPr>
          <p:nvPr>
            <p:ph type="title"/>
          </p:nvPr>
        </p:nvSpPr>
        <p:spPr>
          <a:xfrm>
            <a:off x="457200" y="114300"/>
            <a:ext cx="8229600" cy="7431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Results and Discussion</a:t>
            </a:r>
            <a:endParaRPr b="1">
              <a:solidFill>
                <a:schemeClr val="dk1"/>
              </a:solidFill>
              <a:latin typeface="Times New Roman"/>
              <a:ea typeface="Times New Roman"/>
              <a:cs typeface="Times New Roman"/>
              <a:sym typeface="Times New Roman"/>
            </a:endParaRPr>
          </a:p>
        </p:txBody>
      </p:sp>
      <p:sp>
        <p:nvSpPr>
          <p:cNvPr id="218" name="Google Shape;218;g3198c04c4fb_0_233"/>
          <p:cNvSpPr txBox="1">
            <a:spLocks noGrp="1"/>
          </p:cNvSpPr>
          <p:nvPr>
            <p:ph type="ftr" idx="11"/>
          </p:nvPr>
        </p:nvSpPr>
        <p:spPr>
          <a:xfrm>
            <a:off x="2595372" y="4767263"/>
            <a:ext cx="4569000" cy="376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endParaRPr/>
          </a:p>
        </p:txBody>
      </p:sp>
      <p:sp>
        <p:nvSpPr>
          <p:cNvPr id="219" name="Google Shape;219;g3198c04c4fb_0_233"/>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pic>
        <p:nvPicPr>
          <p:cNvPr id="3" name="Picture 2">
            <a:extLst>
              <a:ext uri="{FF2B5EF4-FFF2-40B4-BE49-F238E27FC236}">
                <a16:creationId xmlns:a16="http://schemas.microsoft.com/office/drawing/2014/main" id="{F38FB934-8F24-6453-8B1C-85154E5D3E99}"/>
              </a:ext>
            </a:extLst>
          </p:cNvPr>
          <p:cNvPicPr>
            <a:picLocks noChangeAspect="1"/>
          </p:cNvPicPr>
          <p:nvPr/>
        </p:nvPicPr>
        <p:blipFill>
          <a:blip r:embed="rId3"/>
          <a:stretch>
            <a:fillRect/>
          </a:stretch>
        </p:blipFill>
        <p:spPr>
          <a:xfrm>
            <a:off x="2460171" y="1473200"/>
            <a:ext cx="3882571" cy="23513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4"/>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Results and Discussion (Cont..)</a:t>
            </a:r>
            <a:endParaRPr b="1">
              <a:solidFill>
                <a:schemeClr val="dk1"/>
              </a:solidFill>
              <a:latin typeface="Times New Roman"/>
              <a:ea typeface="Times New Roman"/>
              <a:cs typeface="Times New Roman"/>
              <a:sym typeface="Times New Roman"/>
            </a:endParaRPr>
          </a:p>
        </p:txBody>
      </p:sp>
      <p:sp>
        <p:nvSpPr>
          <p:cNvPr id="227" name="Google Shape;227;p14"/>
          <p:cNvSpPr txBox="1">
            <a:spLocks noGrp="1"/>
          </p:cNvSpPr>
          <p:nvPr>
            <p:ph type="ftr" idx="11"/>
          </p:nvPr>
        </p:nvSpPr>
        <p:spPr>
          <a:xfrm>
            <a:off x="1943100" y="4767263"/>
            <a:ext cx="5257800" cy="376237"/>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endParaRPr/>
          </a:p>
        </p:txBody>
      </p:sp>
      <p:sp>
        <p:nvSpPr>
          <p:cNvPr id="228" name="Google Shape;228;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229" name="Google Shape;229;p14"/>
          <p:cNvSpPr txBox="1">
            <a:spLocks noGrp="1"/>
          </p:cNvSpPr>
          <p:nvPr>
            <p:ph type="body" idx="1"/>
          </p:nvPr>
        </p:nvSpPr>
        <p:spPr>
          <a:xfrm>
            <a:off x="409750" y="1368646"/>
            <a:ext cx="8059500" cy="3296700"/>
          </a:xfrm>
          <a:prstGeom prst="rect">
            <a:avLst/>
          </a:prstGeom>
          <a:noFill/>
          <a:ln>
            <a:noFill/>
          </a:ln>
        </p:spPr>
        <p:txBody>
          <a:bodyPr spcFirstLastPara="1" wrap="square" lIns="91425" tIns="45700" rIns="91425" bIns="45700" anchor="t" anchorCtr="0">
            <a:normAutofit/>
          </a:bodyPr>
          <a:lstStyle/>
          <a:p>
            <a:pPr marL="419100" indent="-285750" algn="just">
              <a:lnSpc>
                <a:spcPct val="130000"/>
              </a:lnSpc>
              <a:spcBef>
                <a:spcPts val="1200"/>
              </a:spcBef>
              <a:buSzPts val="15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system successfully automates the manual challan generation process. Officers can efficiently record traffic violations, generate receipts instantly, and maintain accurate digital records. The application ensures transparency, minimizes human error, and allows easy tracking of unpaid challans.</a:t>
            </a:r>
          </a:p>
          <a:p>
            <a:pPr marL="419100" indent="-285750" algn="just">
              <a:lnSpc>
                <a:spcPct val="130000"/>
              </a:lnSpc>
              <a:spcBef>
                <a:spcPts val="1200"/>
              </a:spcBef>
              <a:buSzPts val="15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Test cases show that the system correctly calculates fines based on violation type and ensures secure access through the login module. The GUI design offers a clean, easy-to-use interface for non-technical users.</a:t>
            </a:r>
            <a:endParaRPr lang="en-US" sz="1400" dirty="0">
              <a:latin typeface="Times New Roman" panose="02020603050405020304" pitchFamily="18" charset="0"/>
              <a:cs typeface="Times New Roman" panose="02020603050405020304" pitchFamily="18" charset="0"/>
              <a:sym typeface="Times New Roman"/>
            </a:endParaRPr>
          </a:p>
          <a:p>
            <a:pPr marL="133350" indent="0" algn="just">
              <a:lnSpc>
                <a:spcPct val="130000"/>
              </a:lnSpc>
              <a:spcBef>
                <a:spcPts val="1200"/>
              </a:spcBef>
              <a:buSzPts val="1500"/>
              <a:buNone/>
            </a:pPr>
            <a:br>
              <a:rPr lang="en-US" sz="1400" dirty="0">
                <a:latin typeface="Times New Roman" panose="02020603050405020304" pitchFamily="18" charset="0"/>
                <a:cs typeface="Times New Roman" panose="02020603050405020304" pitchFamily="18" charset="0"/>
              </a:rPr>
            </a:br>
            <a:endParaRPr sz="15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5"/>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Conclusion</a:t>
            </a:r>
            <a:endParaRPr b="1">
              <a:solidFill>
                <a:schemeClr val="dk1"/>
              </a:solidFill>
              <a:latin typeface="Times New Roman"/>
              <a:ea typeface="Times New Roman"/>
              <a:cs typeface="Times New Roman"/>
              <a:sym typeface="Times New Roman"/>
            </a:endParaRPr>
          </a:p>
        </p:txBody>
      </p:sp>
      <p:sp>
        <p:nvSpPr>
          <p:cNvPr id="235" name="Google Shape;235;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236" name="Google Shape;236;p15"/>
          <p:cNvSpPr txBox="1">
            <a:spLocks noGrp="1"/>
          </p:cNvSpPr>
          <p:nvPr>
            <p:ph type="body" idx="1"/>
          </p:nvPr>
        </p:nvSpPr>
        <p:spPr>
          <a:xfrm>
            <a:off x="457200" y="1630675"/>
            <a:ext cx="8229600" cy="2731200"/>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1200"/>
              </a:spcBef>
              <a:spcAft>
                <a:spcPts val="1200"/>
              </a:spcAft>
              <a:buClr>
                <a:schemeClr val="dk1"/>
              </a:buClr>
              <a:buSzPts val="1100"/>
              <a:buNone/>
            </a:pPr>
            <a:r>
              <a:rPr lang="en-US" sz="1400" dirty="0">
                <a:latin typeface="Times New Roman" panose="02020603050405020304" pitchFamily="18" charset="0"/>
                <a:cs typeface="Times New Roman" panose="02020603050405020304" pitchFamily="18" charset="0"/>
              </a:rPr>
              <a:t>The E-Challan Generator and Traffic Violation Tracker project demonstrates how Java can be used to build real-world administrative solutions. It simplifies traffic law enforcement, improves data management, and enhances transparency. Future developments could include GPS-based location tagging, camera integration, and real-time dashboards for higher authorities. The system has potential for large-scale deployment in smart city projects.</a:t>
            </a:r>
            <a:endParaRPr sz="1400" dirty="0">
              <a:latin typeface="Times New Roman" panose="02020603050405020304" pitchFamily="18" charset="0"/>
              <a:ea typeface="Times New Roman"/>
              <a:cs typeface="Times New Roman" panose="02020603050405020304" pitchFamily="18" charset="0"/>
              <a:sym typeface="Times New Roman"/>
            </a:endParaRPr>
          </a:p>
        </p:txBody>
      </p:sp>
      <p:sp>
        <p:nvSpPr>
          <p:cNvPr id="237" name="Google Shape;237;p15"/>
          <p:cNvSpPr txBox="1">
            <a:spLocks noGrp="1"/>
          </p:cNvSpPr>
          <p:nvPr>
            <p:ph type="ftr" idx="11"/>
          </p:nvPr>
        </p:nvSpPr>
        <p:spPr>
          <a:xfrm>
            <a:off x="1432000" y="4767263"/>
            <a:ext cx="5257800" cy="376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6"/>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400" b="1">
                <a:solidFill>
                  <a:schemeClr val="dk1"/>
                </a:solidFill>
                <a:latin typeface="Times New Roman"/>
                <a:ea typeface="Times New Roman"/>
                <a:cs typeface="Times New Roman"/>
                <a:sym typeface="Times New Roman"/>
              </a:rPr>
              <a:t>Thank  You</a:t>
            </a:r>
            <a:endParaRPr sz="4000" b="1">
              <a:solidFill>
                <a:schemeClr val="dk1"/>
              </a:solidFill>
              <a:latin typeface="Times New Roman"/>
              <a:ea typeface="Times New Roman"/>
              <a:cs typeface="Times New Roman"/>
              <a:sym typeface="Times New Roman"/>
            </a:endParaRPr>
          </a:p>
        </p:txBody>
      </p:sp>
      <p:sp>
        <p:nvSpPr>
          <p:cNvPr id="243" name="Google Shape;243;p1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244" name="Google Shape;244;p16"/>
          <p:cNvSpPr txBox="1"/>
          <p:nvPr/>
        </p:nvSpPr>
        <p:spPr>
          <a:xfrm>
            <a:off x="0" y="2099871"/>
            <a:ext cx="9144000" cy="1664258"/>
          </a:xfrm>
          <a:prstGeom prst="rect">
            <a:avLst/>
          </a:prstGeom>
          <a:solidFill>
            <a:srgbClr val="EDF0C8"/>
          </a:solid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lt1"/>
              </a:buClr>
              <a:buSzPts val="3600"/>
              <a:buFont typeface="Bookman Old Style"/>
              <a:buNone/>
            </a:pPr>
            <a:endParaRPr sz="3600" b="0" i="0" u="none" strike="noStrike" cap="none">
              <a:solidFill>
                <a:schemeClr val="lt1"/>
              </a:solidFill>
              <a:latin typeface="Bookman Old Style"/>
              <a:ea typeface="Bookman Old Style"/>
              <a:cs typeface="Bookman Old Style"/>
              <a:sym typeface="Bookman Old Style"/>
            </a:endParaRPr>
          </a:p>
          <a:p>
            <a:pPr marL="0" marR="0" lvl="0" indent="0" algn="ctr" rtl="0">
              <a:lnSpc>
                <a:spcPct val="100000"/>
              </a:lnSpc>
              <a:spcBef>
                <a:spcPts val="0"/>
              </a:spcBef>
              <a:spcAft>
                <a:spcPts val="0"/>
              </a:spcAft>
              <a:buClr>
                <a:schemeClr val="dk1"/>
              </a:buClr>
              <a:buSzPts val="3600"/>
              <a:buFont typeface="Times New Roman"/>
              <a:buNone/>
            </a:pPr>
            <a:r>
              <a:rPr lang="en-US" sz="3600" b="1" i="0" u="none" strike="noStrike" cap="none">
                <a:solidFill>
                  <a:schemeClr val="dk1"/>
                </a:solidFill>
                <a:latin typeface="Times New Roman"/>
                <a:ea typeface="Times New Roman"/>
                <a:cs typeface="Times New Roman"/>
                <a:sym typeface="Times New Roman"/>
              </a:rPr>
              <a:t>ANY QUERIES??? </a:t>
            </a:r>
            <a:endParaRPr sz="1400" b="0" i="0" u="none" strike="noStrike" cap="none">
              <a:solidFill>
                <a:srgbClr val="000000"/>
              </a:solidFill>
              <a:latin typeface="Arial"/>
              <a:ea typeface="Arial"/>
              <a:cs typeface="Arial"/>
              <a:sym typeface="Arial"/>
            </a:endParaRPr>
          </a:p>
        </p:txBody>
      </p:sp>
      <p:sp>
        <p:nvSpPr>
          <p:cNvPr id="245" name="Google Shape;245;p16"/>
          <p:cNvSpPr txBox="1">
            <a:spLocks noGrp="1"/>
          </p:cNvSpPr>
          <p:nvPr>
            <p:ph type="ftr" idx="11"/>
          </p:nvPr>
        </p:nvSpPr>
        <p:spPr>
          <a:xfrm>
            <a:off x="1943100" y="4767263"/>
            <a:ext cx="5257800" cy="3762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a:latin typeface="Times New Roman"/>
                <a:ea typeface="Times New Roman"/>
                <a:cs typeface="Times New Roman"/>
                <a:sym typeface="Times New Roman"/>
              </a:rPr>
              <a:t>CGB1201 – JAVA PROGRAMMING –FINAL REVIEW</a:t>
            </a:r>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936</Words>
  <Application>Microsoft Office PowerPoint</Application>
  <PresentationFormat>On-screen Show (16:9)</PresentationFormat>
  <Paragraphs>121</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Bookman Old Style</vt:lpstr>
      <vt:lpstr>Wingdings</vt:lpstr>
      <vt:lpstr>Times New Roman</vt:lpstr>
      <vt:lpstr>Calibri</vt:lpstr>
      <vt:lpstr>Noto Sans Symbols</vt:lpstr>
      <vt:lpstr>Gill Sans</vt:lpstr>
      <vt:lpstr>Arial</vt:lpstr>
      <vt:lpstr>Origin</vt:lpstr>
      <vt:lpstr>CGB1201 – JAVA PROGRAMMING FINAL REVIEW</vt:lpstr>
      <vt:lpstr>Title of the Project</vt:lpstr>
      <vt:lpstr>Abstract </vt:lpstr>
      <vt:lpstr>Abstract with CO/PO Mapping</vt:lpstr>
      <vt:lpstr>Introduction</vt:lpstr>
      <vt:lpstr>Java Programming  - Concepts Used</vt:lpstr>
      <vt:lpstr>Proposed Architecture</vt:lpstr>
      <vt:lpstr>Proposed Architecture - Description</vt:lpstr>
      <vt:lpstr>List of Modules</vt:lpstr>
      <vt:lpstr>Module Description</vt:lpstr>
      <vt:lpstr>Module Description</vt:lpstr>
      <vt:lpstr>Results and Discussion</vt:lpstr>
      <vt:lpstr>Results and Discussion</vt:lpstr>
      <vt:lpstr>Results and Discussion (Cont..)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arthika b</dc:creator>
  <cp:lastModifiedBy>arthika b</cp:lastModifiedBy>
  <cp:revision>4</cp:revision>
  <dcterms:modified xsi:type="dcterms:W3CDTF">2025-12-15T16:48:29Z</dcterms:modified>
</cp:coreProperties>
</file>